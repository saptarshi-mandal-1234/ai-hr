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f1754f442a4514" /><Relationship Type="http://schemas.openxmlformats.org/officeDocument/2006/relationships/extended-properties" Target="/docProps/app.xml" Id="R69bdfabd12714589" /><Relationship Type="http://schemas.openxmlformats.org/officeDocument/2006/relationships/officeDocument" Target="/ppt/presentation.xml" Id="Rca95d427eaa74b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4a0f6c419d4a2a"/>
  </p:sldMasterIdLst>
  <p:notesMasterIdLst>
    <p:notesMasterId xmlns:r="http://schemas.openxmlformats.org/officeDocument/2006/relationships" r:id="Rf34618c0cd264912"/>
  </p:notesMasterIdLst>
  <p:sldIdLst>
    <p:sldId xmlns:r="http://schemas.openxmlformats.org/officeDocument/2006/relationships" id="256" r:id="R8965ee8732434798"/>
    <p:sldId xmlns:r="http://schemas.openxmlformats.org/officeDocument/2006/relationships" id="257" r:id="R6af5fb6d73f0479d"/>
    <p:sldId xmlns:r="http://schemas.openxmlformats.org/officeDocument/2006/relationships" id="258" r:id="R12b006417bb84992"/>
    <p:sldId xmlns:r="http://schemas.openxmlformats.org/officeDocument/2006/relationships" id="259" r:id="Re962cb9a49da4e2e"/>
    <p:sldId xmlns:r="http://schemas.openxmlformats.org/officeDocument/2006/relationships" id="260" r:id="Rfd8a55c04dfe4d02"/>
    <p:sldId xmlns:r="http://schemas.openxmlformats.org/officeDocument/2006/relationships" id="261" r:id="Rb305449d48ef43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719cdf0883480c" /><Relationship Type="http://schemas.openxmlformats.org/officeDocument/2006/relationships/slideMaster" Target="/ppt/slideMasters/slideMaster1.xml" Id="R4a4a0f6c419d4a2a" /><Relationship Type="http://schemas.openxmlformats.org/officeDocument/2006/relationships/notesMaster" Target="/ppt/notesMasters/notesMaster1.xml" Id="Rf34618c0cd264912" /><Relationship Type="http://schemas.openxmlformats.org/officeDocument/2006/relationships/presProps" Target="/ppt/presProps.xml" Id="Rb8a49867a1424c4a" /><Relationship Type="http://schemas.openxmlformats.org/officeDocument/2006/relationships/tableStyles" Target="/ppt/tableStyles.xml" Id="R3a6d18ba7e9a4b84" /><Relationship Type="http://schemas.openxmlformats.org/officeDocument/2006/relationships/slide" Target="/ppt/slides/slide1.xml" Id="R8965ee8732434798" /><Relationship Type="http://schemas.openxmlformats.org/officeDocument/2006/relationships/slide" Target="/ppt/slides/slide2.xml" Id="R6af5fb6d73f0479d" /><Relationship Type="http://schemas.openxmlformats.org/officeDocument/2006/relationships/slide" Target="/ppt/slides/slide3.xml" Id="R12b006417bb84992" /><Relationship Type="http://schemas.openxmlformats.org/officeDocument/2006/relationships/slide" Target="/ppt/slides/slide4.xml" Id="Re962cb9a49da4e2e" /><Relationship Type="http://schemas.openxmlformats.org/officeDocument/2006/relationships/slide" Target="/ppt/slides/slide5.xml" Id="Rfd8a55c04dfe4d02" /><Relationship Type="http://schemas.openxmlformats.org/officeDocument/2006/relationships/slide" Target="/ppt/slides/slide6.xml" Id="Rb305449d48ef43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af93ae1af249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e0cb43f24946d9" /><Relationship Type="http://schemas.openxmlformats.org/officeDocument/2006/relationships/notesMaster" Target="/ppt/notesMasters/notesMaster1.xml" Id="Rc801df0b9ddf4e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0e9618e4f9415f" /><Relationship Type="http://schemas.openxmlformats.org/officeDocument/2006/relationships/notesMaster" Target="/ppt/notesMasters/notesMaster1.xml" Id="R4abf76f85b2746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fc947a85674410" /><Relationship Type="http://schemas.openxmlformats.org/officeDocument/2006/relationships/notesMaster" Target="/ppt/notesMasters/notesMaster1.xml" Id="Rac0d8ecf39dd4c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cb4d6e66eb4197" /><Relationship Type="http://schemas.openxmlformats.org/officeDocument/2006/relationships/notesMaster" Target="/ppt/notesMasters/notesMaster1.xml" Id="R991fd2019e0a40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8a682822654760" /><Relationship Type="http://schemas.openxmlformats.org/officeDocument/2006/relationships/notesMaster" Target="/ppt/notesMasters/notesMaster1.xml" Id="Ra52e0919e0f24e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88c9b8eb7a47ee" /><Relationship Type="http://schemas.openxmlformats.org/officeDocument/2006/relationships/notesMaster" Target="/ppt/notesMasters/notesMaster1.xml" Id="R614248ae80d345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Problem framing supplied in the AI HR hackathon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HR local product screenshot captured 2026-08-29 with fictional IBM demo data.</a:t>
            </a:r>
          </a:p>
          <a:p xmlns:a="http://schemas.openxmlformats.org/drawingml/2006/main">
            <a:r>
              <a:t>- Solution description supplied in the hackathon brief and implemented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Demo sequence supplied in the AI HR hackathon brief and mapped to implemented screens.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Architecture derived from local server.js, storage.js, and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 boundary supplied in the hackathon brief and implemented in decision routes and UI confirmations.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Future roadmap supplied in the hackathon brief and aligned with README production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16cf54d1a74a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97a3cf632f478f" /><Relationship Type="http://schemas.openxmlformats.org/officeDocument/2006/relationships/slideLayout" Target="/ppt/slideLayouts/slideLayout1.xml" Id="R9fd4f137f9fc49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d4f137f9fc49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adefb15114e60" /><Relationship Type="http://schemas.openxmlformats.org/officeDocument/2006/relationships/notesSlide" Target="/ppt/notesSlides/notesSlide1.xml" Id="R6bf535a02eb842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a43680dd74b2d" /><Relationship Type="http://schemas.openxmlformats.org/officeDocument/2006/relationships/image" Target="/ppt/media/image.png" Id="Rdbd43677814742ca" /><Relationship Type="http://schemas.openxmlformats.org/officeDocument/2006/relationships/notesSlide" Target="/ppt/notesSlides/notesSlide2.xml" Id="Rc2d30ff1859840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46290a9fd4fdc" /><Relationship Type="http://schemas.openxmlformats.org/officeDocument/2006/relationships/notesSlide" Target="/ppt/notesSlides/notesSlide3.xml" Id="Rbd845bfdb0b240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9eec49d094c60" /><Relationship Type="http://schemas.openxmlformats.org/officeDocument/2006/relationships/notesSlide" Target="/ppt/notesSlides/notesSlide4.xml" Id="R24a075ff73d646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654a6c8b3490a" /><Relationship Type="http://schemas.openxmlformats.org/officeDocument/2006/relationships/notesSlide" Target="/ppt/notesSlides/notesSlide5.xml" Id="R50ced00e6bfe48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ca09fef774f05" /><Relationship Type="http://schemas.openxmlformats.org/officeDocument/2006/relationships/notesSlide" Target="/ppt/notesSlides/notesSlide6.xml" Id="Rf956c4cb30244d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19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304D6411-4B2C-4F40-BA20-C532AFC9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CBB9"/>
                </a:solidFill>
              </a:defRPr>
            </a:pPr>
            <a:r>
              <a:rPr sz="975" b="1">
                <a:solidFill>
                  <a:srgbClr val="D6CBB9"/>
                </a:solidFill>
              </a:rPr>
              <a:t>AI HR / HACKATHON PITCH</a:t>
            </a:r>
          </a:p>
        </p:txBody>
      </p:sp>
      <p:sp>
        <p:nvSpPr>
          <p:cNvPr id="2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FC703393-7FDD-44AF-8990-B0CB5A86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DF8"/>
                </a:solidFill>
              </a:defRPr>
            </a:pPr>
            <a:r>
              <a:rPr sz="4125" b="1">
                <a:solidFill>
                  <a:srgbClr val="FFFDF8"/>
                </a:solidFill>
              </a:rPr>
              <a:t>HR work is fragmented.</a:t>
            </a:r>
          </a:p>
          <a:p xmlns:a="http://schemas.openxmlformats.org/drawingml/2006/main">
            <a:pPr algn="l">
              <a:defRPr sz="4125" b="1">
                <a:solidFill>
                  <a:srgbClr val="FFFDF8"/>
                </a:solidFill>
              </a:defRPr>
            </a:pPr>
            <a:r>
              <a:rPr sz="4125" b="1">
                <a:solidFill>
                  <a:srgbClr val="FFFDF8"/>
                </a:solidFill>
              </a:rPr>
              <a:t>Important decisions cannot be.</a:t>
            </a:r>
          </a:p>
        </p:txBody>
      </p:sp>
      <p:sp>
        <p:nvSpPr>
          <p:cNvPr id="3" name="problem-body">
            <a:extLst xmlns:a="http://schemas.openxmlformats.org/drawingml/2006/main">
              <a:ext uri="{FF2B5EF4-FFF2-40B4-BE49-F238E27FC236}">
                <a16:creationId xmlns:a16="http://schemas.microsoft.com/office/drawing/2014/main" id="{5D2C81FE-2673-479E-816C-59FABFA3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67125"/>
            <a:ext cx="666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6CBB9"/>
                </a:solidFill>
              </a:defRPr>
            </a:pPr>
            <a:r>
              <a:rPr sz="1725" b="0">
                <a:solidFill>
                  <a:srgbClr val="D6CBB9"/>
                </a:solidFill>
              </a:rPr>
              <a:t>Employee history lives across files, messages, and memory. Routine preparation is slow, while high-impact actions need evidence and accountable review.</a:t>
            </a:r>
          </a:p>
        </p:txBody>
      </p:sp>
      <p:sp>
        <p:nvSpPr>
          <p:cNvPr id="4" name="accent-rule">
            <a:extLst xmlns:a="http://schemas.openxmlformats.org/drawingml/2006/main">
              <a:ext uri="{FF2B5EF4-FFF2-40B4-BE49-F238E27FC236}">
                <a16:creationId xmlns:a16="http://schemas.microsoft.com/office/drawing/2014/main" id="{08C2BB53-F0C9-4055-B747-908F0F64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33450"/>
            <a:ext cx="381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ragment-one">
            <a:extLst xmlns:a="http://schemas.openxmlformats.org/drawingml/2006/main">
              <a:ext uri="{FF2B5EF4-FFF2-40B4-BE49-F238E27FC236}">
                <a16:creationId xmlns:a16="http://schemas.microsoft.com/office/drawing/2014/main" id="{A8145AF4-DAEF-443F-BF51-2EFC5A8C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5255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DF8"/>
                </a:solidFill>
              </a:defRPr>
            </a:pPr>
            <a:r>
              <a:rPr sz="3225" b="1">
                <a:solidFill>
                  <a:srgbClr val="FFFDF8"/>
                </a:solidFill>
              </a:rPr>
              <a:t>DATA</a:t>
            </a:r>
          </a:p>
        </p:txBody>
      </p:sp>
      <p:sp>
        <p:nvSpPr>
          <p:cNvPr id="6" name="fragment-two">
            <a:extLst xmlns:a="http://schemas.openxmlformats.org/drawingml/2006/main">
              <a:ext uri="{FF2B5EF4-FFF2-40B4-BE49-F238E27FC236}">
                <a16:creationId xmlns:a16="http://schemas.microsoft.com/office/drawing/2014/main" id="{4F60DBBC-F76A-4F11-8111-D827BF4D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B8C7B4"/>
                </a:solidFill>
              </a:defRPr>
            </a:pPr>
            <a:r>
              <a:rPr sz="3225" b="1">
                <a:solidFill>
                  <a:srgbClr val="B8C7B4"/>
                </a:solidFill>
              </a:rPr>
              <a:t>CONTEXT</a:t>
            </a:r>
          </a:p>
        </p:txBody>
      </p:sp>
      <p:sp>
        <p:nvSpPr>
          <p:cNvPr id="7" name="fragment-three">
            <a:extLst xmlns:a="http://schemas.openxmlformats.org/drawingml/2006/main">
              <a:ext uri="{FF2B5EF4-FFF2-40B4-BE49-F238E27FC236}">
                <a16:creationId xmlns:a16="http://schemas.microsoft.com/office/drawing/2014/main" id="{B146962D-5454-4B67-A3A3-F267061F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6715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D9BF91"/>
                </a:solidFill>
              </a:defRPr>
            </a:pPr>
            <a:r>
              <a:rPr sz="3225" b="1">
                <a:solidFill>
                  <a:srgbClr val="D9BF91"/>
                </a:solidFill>
              </a:rPr>
              <a:t>ACTION</a:t>
            </a:r>
          </a:p>
        </p:txBody>
      </p:sp>
      <p:sp>
        <p:nvSpPr>
          <p:cNvPr id="8" name="brand">
            <a:extLst xmlns:a="http://schemas.openxmlformats.org/drawingml/2006/main">
              <a:ext uri="{FF2B5EF4-FFF2-40B4-BE49-F238E27FC236}">
                <a16:creationId xmlns:a16="http://schemas.microsoft.com/office/drawing/2014/main" id="{6356EA99-439B-4BB8-B63F-C0236250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674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DF8"/>
                </a:solidFill>
              </a:defRPr>
            </a:pPr>
            <a:r>
              <a:rPr sz="2100" b="1">
                <a:solidFill>
                  <a:srgbClr val="FFFDF8"/>
                </a:solidFill>
              </a:rPr>
              <a:t>AI HR</a:t>
            </a:r>
          </a:p>
        </p:txBody>
      </p:sp>
      <p:sp>
        <p:nvSpPr>
          <p:cNvPr id="9" name="page-1">
            <a:extLst xmlns:a="http://schemas.openxmlformats.org/drawingml/2006/main">
              <a:ext uri="{FF2B5EF4-FFF2-40B4-BE49-F238E27FC236}">
                <a16:creationId xmlns:a16="http://schemas.microsoft.com/office/drawing/2014/main" id="{904B705A-EC4A-49A2-B6F0-DC24A6E6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4ADA2"/>
                </a:solidFill>
              </a:defRPr>
            </a:pPr>
            <a:r>
              <a:rPr sz="900" b="1">
                <a:solidFill>
                  <a:srgbClr val="B4ADA2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563691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ED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34DE39F7-0A48-4EC4-8ADE-47F8CDB1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4231"/>
                </a:solidFill>
              </a:defRPr>
            </a:pPr>
            <a:r>
              <a:rPr sz="975" b="1">
                <a:solidFill>
                  <a:srgbClr val="354231"/>
                </a:solidFill>
              </a:rPr>
              <a:t>SOLUTION</a:t>
            </a:r>
          </a:p>
        </p:txBody>
      </p:sp>
      <p:sp>
        <p:nvSpPr>
          <p:cNvPr id="2" name="solution-title">
            <a:extLst xmlns:a="http://schemas.openxmlformats.org/drawingml/2006/main">
              <a:ext uri="{FF2B5EF4-FFF2-40B4-BE49-F238E27FC236}">
                <a16:creationId xmlns:a16="http://schemas.microsoft.com/office/drawing/2014/main" id="{5D479CF2-1CF7-4E99-B5CB-1F08288B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91916"/>
                </a:solidFill>
              </a:defRPr>
            </a:pPr>
            <a:r>
              <a:rPr sz="3150" b="1">
                <a:solidFill>
                  <a:srgbClr val="191916"/>
                </a:solidFill>
              </a:rPr>
              <a:t>One copilot turns records into accountable HR work</a:t>
            </a:r>
          </a:p>
        </p:txBody>
      </p:sp>
      <p:sp>
        <p:nvSpPr>
          <p:cNvPr id="3" name="solution-copy">
            <a:extLst xmlns:a="http://schemas.openxmlformats.org/drawingml/2006/main">
              <a:ext uri="{FF2B5EF4-FFF2-40B4-BE49-F238E27FC236}">
                <a16:creationId xmlns:a16="http://schemas.microsoft.com/office/drawing/2014/main" id="{5A9E019C-4F06-4ACA-826A-0FDB3715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3886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F6A61"/>
                </a:solidFill>
              </a:defRPr>
            </a:pPr>
            <a:r>
              <a:rPr sz="1725" b="0">
                <a:solidFill>
                  <a:srgbClr val="6F6A61"/>
                </a:solidFill>
              </a:rPr>
              <a:t>AI HR organizes employee information, prepares onboarding and reviews, explains company data, and keeps sensitive decisions under human control.</a:t>
            </a:r>
          </a:p>
        </p:txBody>
      </p:sp>
      <p:sp>
        <p:nvSpPr>
          <p:cNvPr id="4" name="solution-rule">
            <a:extLst xmlns:a="http://schemas.openxmlformats.org/drawingml/2006/main">
              <a:ext uri="{FF2B5EF4-FFF2-40B4-BE49-F238E27FC236}">
                <a16:creationId xmlns:a16="http://schemas.microsoft.com/office/drawing/2014/main" id="{5CC12B88-0BE9-4112-B2C4-FDC8AC8A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528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lution-list">
            <a:extLst xmlns:a="http://schemas.openxmlformats.org/drawingml/2006/main">
              <a:ext uri="{FF2B5EF4-FFF2-40B4-BE49-F238E27FC236}">
                <a16:creationId xmlns:a16="http://schemas.microsoft.com/office/drawing/2014/main" id="{CDD6C6EF-8466-4580-AA2A-257BDD64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90950"/>
            <a:ext cx="304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54231"/>
                </a:solidFill>
              </a:defRPr>
            </a:pPr>
            <a:r>
              <a:rPr sz="1875" b="1">
                <a:solidFill>
                  <a:srgbClr val="354231"/>
                </a:solidFill>
              </a:rPr>
              <a:t>HOME</a:t>
            </a:r>
          </a:p>
          <a:p xmlns:a="http://schemas.openxmlformats.org/drawingml/2006/main">
            <a:pPr algn="l">
              <a:defRPr sz="1875" b="1">
                <a:solidFill>
                  <a:srgbClr val="354231"/>
                </a:solidFill>
              </a:defRPr>
            </a:pPr>
            <a:r>
              <a:rPr sz="1875" b="1">
                <a:solidFill>
                  <a:srgbClr val="354231"/>
                </a:solidFill>
              </a:rPr>
              <a:t>EMPLOYEES</a:t>
            </a:r>
          </a:p>
          <a:p xmlns:a="http://schemas.openxmlformats.org/drawingml/2006/main">
            <a:pPr algn="l">
              <a:defRPr sz="1875" b="1">
                <a:solidFill>
                  <a:srgbClr val="354231"/>
                </a:solidFill>
              </a:defRPr>
            </a:pPr>
            <a:r>
              <a:rPr sz="1875" b="1">
                <a:solidFill>
                  <a:srgbClr val="354231"/>
                </a:solidFill>
              </a:rPr>
              <a:t>ONBOARDING</a:t>
            </a:r>
          </a:p>
          <a:p xmlns:a="http://schemas.openxmlformats.org/drawingml/2006/main">
            <a:pPr algn="l">
              <a:defRPr sz="1875" b="1">
                <a:solidFill>
                  <a:srgbClr val="354231"/>
                </a:solidFill>
              </a:defRPr>
            </a:pPr>
            <a:r>
              <a:rPr sz="1875" b="1">
                <a:solidFill>
                  <a:srgbClr val="354231"/>
                </a:solidFill>
              </a:rPr>
              <a:t>REVIEWS</a:t>
            </a:r>
          </a:p>
          <a:p xmlns:a="http://schemas.openxmlformats.org/drawingml/2006/main">
            <a:pPr algn="l">
              <a:defRPr sz="1875" b="1">
                <a:solidFill>
                  <a:srgbClr val="354231"/>
                </a:solidFill>
              </a:defRPr>
            </a:pPr>
            <a:r>
              <a:rPr sz="1875" b="1">
                <a:solidFill>
                  <a:srgbClr val="354231"/>
                </a:solidFill>
              </a:rPr>
              <a:t>ASK AI HR</a:t>
            </a:r>
          </a:p>
        </p:txBody>
      </p:sp>
      <p:sp>
        <p:nvSpPr>
          <p:cNvPr id="6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7C5622A6-620E-4B45-89B1-F359F11B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676400"/>
            <a:ext cx="66675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4CDC1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43677814742ca"/>
          <a:srcRect xmlns:a="http://schemas.openxmlformats.org/drawingml/2006/main" l="0" t="5905" r="0" b="59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0" y="1790700"/>
            <a:ext cx="6438900" cy="3943350"/>
          </a:xfrm>
          <a:prstGeom xmlns:a="http://schemas.openxmlformats.org/drawingml/2006/main" prst="roundRect">
            <a:avLst>
              <a:gd name="adj" fmla="val 1449"/>
            </a:avLst>
          </a:prstGeom>
        </p:spPr>
      </p:pic>
      <p:sp>
        <p:nvSpPr>
          <p:cNvPr id="8" name="page-2">
            <a:extLst xmlns:a="http://schemas.openxmlformats.org/drawingml/2006/main">
              <a:ext uri="{FF2B5EF4-FFF2-40B4-BE49-F238E27FC236}">
                <a16:creationId xmlns:a16="http://schemas.microsoft.com/office/drawing/2014/main" id="{49FA6E26-C755-48D9-B79A-94AEDDCF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6A61"/>
                </a:solidFill>
              </a:defRPr>
            </a:pPr>
            <a:r>
              <a:rPr sz="900" b="1">
                <a:solidFill>
                  <a:srgbClr val="6F6A61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721022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">
            <a:extLst xmlns:a="http://schemas.openxmlformats.org/drawingml/2006/main">
              <a:ext uri="{FF2B5EF4-FFF2-40B4-BE49-F238E27FC236}">
                <a16:creationId xmlns:a16="http://schemas.microsoft.com/office/drawing/2014/main" id="{6CD27CC4-2204-4144-A6F8-3EC72E65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4231"/>
                </a:solidFill>
              </a:defRPr>
            </a:pPr>
            <a:r>
              <a:rPr sz="975" b="1">
                <a:solidFill>
                  <a:srgbClr val="354231"/>
                </a:solidFill>
              </a:rPr>
              <a:t>LIVE WORKFLOW</a:t>
            </a:r>
          </a:p>
        </p:txBody>
      </p:sp>
      <p:sp>
        <p:nvSpPr>
          <p:cNvPr id="2" name="workflow-title">
            <a:extLst xmlns:a="http://schemas.openxmlformats.org/drawingml/2006/main">
              <a:ext uri="{FF2B5EF4-FFF2-40B4-BE49-F238E27FC236}">
                <a16:creationId xmlns:a16="http://schemas.microsoft.com/office/drawing/2014/main" id="{32C7029B-20E6-41CA-AF40-839D280B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91916"/>
                </a:solidFill>
              </a:defRPr>
            </a:pPr>
            <a:r>
              <a:rPr sz="3150" b="1">
                <a:solidFill>
                  <a:srgbClr val="191916"/>
                </a:solidFill>
              </a:rPr>
              <a:t>A complete story in three minutes</a:t>
            </a:r>
          </a:p>
        </p:txBody>
      </p:sp>
      <p:sp>
        <p:nvSpPr>
          <p:cNvPr id="3" name="workflow-subtitle">
            <a:extLst xmlns:a="http://schemas.openxmlformats.org/drawingml/2006/main">
              <a:ext uri="{FF2B5EF4-FFF2-40B4-BE49-F238E27FC236}">
                <a16:creationId xmlns:a16="http://schemas.microsoft.com/office/drawing/2014/main" id="{64B966C9-587A-440B-A109-A80C3AF1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478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6A61"/>
                </a:solidFill>
              </a:defRPr>
            </a:pPr>
            <a:r>
              <a:rPr sz="1575" b="0">
                <a:solidFill>
                  <a:srgbClr val="6F6A61"/>
                </a:solidFill>
              </a:rPr>
              <a:t>One employee record moves from import to accountable action.</a:t>
            </a:r>
          </a:p>
        </p:txBody>
      </p:sp>
      <p:sp>
        <p:nvSpPr>
          <p:cNvPr id="4" name="flow-line">
            <a:extLst xmlns:a="http://schemas.openxmlformats.org/drawingml/2006/main">
              <a:ext uri="{FF2B5EF4-FFF2-40B4-BE49-F238E27FC236}">
                <a16:creationId xmlns:a16="http://schemas.microsoft.com/office/drawing/2014/main" id="{4677C439-7DDE-47A0-B888-A3168590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05150"/>
            <a:ext cx="998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D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-dot-0">
            <a:extLst xmlns:a="http://schemas.openxmlformats.org/drawingml/2006/main">
              <a:ext uri="{FF2B5EF4-FFF2-40B4-BE49-F238E27FC236}">
                <a16:creationId xmlns:a16="http://schemas.microsoft.com/office/drawing/2014/main" id="{0E730D5A-7552-4A5D-A5F5-51BF5AAF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19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77C742D6-8348-4FC6-8377-D0DA873C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DF8"/>
                </a:solidFill>
              </a:defRPr>
            </a:pPr>
            <a:r>
              <a:rPr sz="1050" b="1">
                <a:solidFill>
                  <a:srgbClr val="FFFDF8"/>
                </a:solidFill>
              </a:rPr>
              <a:t>01</a:t>
            </a:r>
          </a:p>
        </p:txBody>
      </p:sp>
      <p:sp>
        <p:nvSpPr>
          <p:cNvPr id="7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768162F5-4525-4E76-926C-176A0011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257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1916"/>
                </a:solidFill>
              </a:defRPr>
            </a:pPr>
            <a:r>
              <a:rPr sz="1500" b="1">
                <a:solidFill>
                  <a:srgbClr val="191916"/>
                </a:solidFill>
              </a:rPr>
              <a:t>Upload</a:t>
            </a:r>
          </a:p>
          <a:p xmlns:a="http://schemas.openxmlformats.org/drawingml/2006/main">
            <a:pPr algn="ctr">
              <a:defRPr sz="1500" b="1">
                <a:solidFill>
                  <a:srgbClr val="191916"/>
                </a:solidFill>
              </a:defRPr>
            </a:pPr>
            <a:r>
              <a:rPr sz="1500" b="1">
                <a:solidFill>
                  <a:srgbClr val="191916"/>
                </a:solidFill>
              </a:rPr>
              <a:t>CSV</a:t>
            </a:r>
          </a:p>
        </p:txBody>
      </p:sp>
      <p:sp>
        <p:nvSpPr>
          <p:cNvPr id="8" name="step-dot-1">
            <a:extLst xmlns:a="http://schemas.openxmlformats.org/drawingml/2006/main">
              <a:ext uri="{FF2B5EF4-FFF2-40B4-BE49-F238E27FC236}">
                <a16:creationId xmlns:a16="http://schemas.microsoft.com/office/drawing/2014/main" id="{3DB2BFC7-E3FF-431A-86FC-BA1FC6E9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8765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19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25EBBD6A-9EDD-4D89-96E8-5A3613A1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0099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DF8"/>
                </a:solidFill>
              </a:defRPr>
            </a:pPr>
            <a:r>
              <a:rPr sz="1050" b="1">
                <a:solidFill>
                  <a:srgbClr val="FFFDF8"/>
                </a:solidFill>
              </a:rPr>
              <a:t>02</a:t>
            </a:r>
          </a:p>
        </p:txBody>
      </p:sp>
      <p:sp>
        <p:nvSpPr>
          <p:cNvPr id="10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AF15E531-5F4D-4461-A1C7-A7D6E4FA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619500"/>
            <a:ext cx="1257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1916"/>
                </a:solidFill>
              </a:defRPr>
            </a:pPr>
            <a:r>
              <a:rPr sz="1500" b="1">
                <a:solidFill>
                  <a:srgbClr val="191916"/>
                </a:solidFill>
              </a:rPr>
              <a:t>Open</a:t>
            </a:r>
          </a:p>
          <a:p xmlns:a="http://schemas.openxmlformats.org/drawingml/2006/main">
            <a:pPr algn="ctr">
              <a:defRPr sz="1500" b="1">
                <a:solidFill>
                  <a:srgbClr val="191916"/>
                </a:solidFill>
              </a:defRPr>
            </a:pPr>
            <a:r>
              <a:rPr sz="1500" b="1">
                <a:solidFill>
                  <a:srgbClr val="191916"/>
                </a:solidFill>
              </a:rPr>
              <a:t>profile</a:t>
            </a:r>
          </a:p>
        </p:txBody>
      </p:sp>
      <p:sp>
        <p:nvSpPr>
          <p:cNvPr id="11" name="step-dot-2">
            <a:extLst xmlns:a="http://schemas.openxmlformats.org/drawingml/2006/main">
              <a:ext uri="{FF2B5EF4-FFF2-40B4-BE49-F238E27FC236}">
                <a16:creationId xmlns:a16="http://schemas.microsoft.com/office/drawing/2014/main" id="{8D026497-108C-40D0-A512-705D6092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765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19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96BCE7F5-91B0-4278-BAD3-5898D3C4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099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DF8"/>
                </a:solidFill>
              </a:defRPr>
            </a:pPr>
            <a:r>
              <a:rPr sz="1050" b="1">
                <a:solidFill>
                  <a:srgbClr val="FFFDF8"/>
                </a:solidFill>
              </a:rPr>
              <a:t>03</a:t>
            </a:r>
          </a:p>
        </p:txBody>
      </p:sp>
      <p:sp>
        <p:nvSpPr>
          <p:cNvPr id="13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147F90C8-A370-4AD9-A86B-B031CA72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19500"/>
            <a:ext cx="1257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1916"/>
                </a:solidFill>
              </a:defRPr>
            </a:pPr>
            <a:r>
              <a:rPr sz="1500" b="1">
                <a:solidFill>
                  <a:srgbClr val="191916"/>
                </a:solidFill>
              </a:rPr>
              <a:t>Record</a:t>
            </a:r>
          </a:p>
          <a:p xmlns:a="http://schemas.openxmlformats.org/drawingml/2006/main">
            <a:pPr algn="ctr">
              <a:defRPr sz="1500" b="1">
                <a:solidFill>
                  <a:srgbClr val="191916"/>
                </a:solidFill>
              </a:defRPr>
            </a:pPr>
            <a:r>
              <a:rPr sz="1500" b="1">
                <a:solidFill>
                  <a:srgbClr val="191916"/>
                </a:solidFill>
              </a:rPr>
              <a:t>a win</a:t>
            </a:r>
          </a:p>
        </p:txBody>
      </p:sp>
      <p:sp>
        <p:nvSpPr>
          <p:cNvPr id="14" name="step-dot-3">
            <a:extLst xmlns:a="http://schemas.openxmlformats.org/drawingml/2006/main">
              <a:ext uri="{FF2B5EF4-FFF2-40B4-BE49-F238E27FC236}">
                <a16:creationId xmlns:a16="http://schemas.microsoft.com/office/drawing/2014/main" id="{CBA99C1A-781B-473D-BE31-45CC6689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765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19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C2937AA4-2531-4225-9EF8-656BAE35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0099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DF8"/>
                </a:solidFill>
              </a:defRPr>
            </a:pPr>
            <a:r>
              <a:rPr sz="1050" b="1">
                <a:solidFill>
                  <a:srgbClr val="FFFDF8"/>
                </a:solidFill>
              </a:rPr>
              <a:t>04</a:t>
            </a:r>
          </a:p>
        </p:txBody>
      </p:sp>
      <p:sp>
        <p:nvSpPr>
          <p:cNvPr id="16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FF10CC6E-78D9-4EA8-8533-8186C3FC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619500"/>
            <a:ext cx="1257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1916"/>
                </a:solidFill>
              </a:defRPr>
            </a:pPr>
            <a:r>
              <a:rPr sz="1500" b="1">
                <a:solidFill>
                  <a:srgbClr val="191916"/>
                </a:solidFill>
              </a:rPr>
              <a:t>Add a</a:t>
            </a:r>
          </a:p>
          <a:p xmlns:a="http://schemas.openxmlformats.org/drawingml/2006/main">
            <a:pPr algn="ctr">
              <a:defRPr sz="1500" b="1">
                <a:solidFill>
                  <a:srgbClr val="191916"/>
                </a:solidFill>
              </a:defRPr>
            </a:pPr>
            <a:r>
              <a:rPr sz="1500" b="1">
                <a:solidFill>
                  <a:srgbClr val="191916"/>
                </a:solidFill>
              </a:rPr>
              <a:t>concern</a:t>
            </a:r>
          </a:p>
        </p:txBody>
      </p:sp>
      <p:sp>
        <p:nvSpPr>
          <p:cNvPr id="17" name="step-dot-4">
            <a:extLst xmlns:a="http://schemas.openxmlformats.org/drawingml/2006/main">
              <a:ext uri="{FF2B5EF4-FFF2-40B4-BE49-F238E27FC236}">
                <a16:creationId xmlns:a16="http://schemas.microsoft.com/office/drawing/2014/main" id="{25673B89-2AC6-486A-8945-801FE6DE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765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19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ep-number-4">
            <a:extLst xmlns:a="http://schemas.openxmlformats.org/drawingml/2006/main">
              <a:ext uri="{FF2B5EF4-FFF2-40B4-BE49-F238E27FC236}">
                <a16:creationId xmlns:a16="http://schemas.microsoft.com/office/drawing/2014/main" id="{8F41BD68-CECB-40C1-AD05-A723CBD2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099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DF8"/>
                </a:solidFill>
              </a:defRPr>
            </a:pPr>
            <a:r>
              <a:rPr sz="1050" b="1">
                <a:solidFill>
                  <a:srgbClr val="FFFDF8"/>
                </a:solidFill>
              </a:rPr>
              <a:t>05</a:t>
            </a:r>
          </a:p>
        </p:txBody>
      </p:sp>
      <p:sp>
        <p:nvSpPr>
          <p:cNvPr id="19" name="step-label-4">
            <a:extLst xmlns:a="http://schemas.openxmlformats.org/drawingml/2006/main">
              <a:ext uri="{FF2B5EF4-FFF2-40B4-BE49-F238E27FC236}">
                <a16:creationId xmlns:a16="http://schemas.microsoft.com/office/drawing/2014/main" id="{F67E6523-F700-4C77-87B8-29A0D82A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19500"/>
            <a:ext cx="1257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1916"/>
                </a:solidFill>
              </a:defRPr>
            </a:pPr>
            <a:r>
              <a:rPr sz="1500" b="1">
                <a:solidFill>
                  <a:srgbClr val="191916"/>
                </a:solidFill>
              </a:rPr>
              <a:t>Ask AI to</a:t>
            </a:r>
          </a:p>
          <a:p xmlns:a="http://schemas.openxmlformats.org/drawingml/2006/main">
            <a:pPr algn="ctr">
              <a:defRPr sz="1500" b="1">
                <a:solidFill>
                  <a:srgbClr val="191916"/>
                </a:solidFill>
              </a:defRPr>
            </a:pPr>
            <a:r>
              <a:rPr sz="1500" b="1">
                <a:solidFill>
                  <a:srgbClr val="191916"/>
                </a:solidFill>
              </a:rPr>
              <a:t>summarize</a:t>
            </a:r>
          </a:p>
        </p:txBody>
      </p:sp>
      <p:sp>
        <p:nvSpPr>
          <p:cNvPr id="20" name="step-dot-5">
            <a:extLst xmlns:a="http://schemas.openxmlformats.org/drawingml/2006/main">
              <a:ext uri="{FF2B5EF4-FFF2-40B4-BE49-F238E27FC236}">
                <a16:creationId xmlns:a16="http://schemas.microsoft.com/office/drawing/2014/main" id="{E66B1165-F84B-4511-8D85-5285AFA8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765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19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ep-number-5">
            <a:extLst xmlns:a="http://schemas.openxmlformats.org/drawingml/2006/main">
              <a:ext uri="{FF2B5EF4-FFF2-40B4-BE49-F238E27FC236}">
                <a16:creationId xmlns:a16="http://schemas.microsoft.com/office/drawing/2014/main" id="{D13BD0B9-7045-4AA9-BE06-F9812E44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099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DF8"/>
                </a:solidFill>
              </a:defRPr>
            </a:pPr>
            <a:r>
              <a:rPr sz="1050" b="1">
                <a:solidFill>
                  <a:srgbClr val="FFFDF8"/>
                </a:solidFill>
              </a:rPr>
              <a:t>06</a:t>
            </a:r>
          </a:p>
        </p:txBody>
      </p:sp>
      <p:sp>
        <p:nvSpPr>
          <p:cNvPr id="22" name="step-label-5">
            <a:extLst xmlns:a="http://schemas.openxmlformats.org/drawingml/2006/main">
              <a:ext uri="{FF2B5EF4-FFF2-40B4-BE49-F238E27FC236}">
                <a16:creationId xmlns:a16="http://schemas.microsoft.com/office/drawing/2014/main" id="{AD591C19-436F-4956-9770-0CE40F5C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619500"/>
            <a:ext cx="1257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1916"/>
                </a:solidFill>
              </a:defRPr>
            </a:pPr>
            <a:r>
              <a:rPr sz="1500" b="1">
                <a:solidFill>
                  <a:srgbClr val="191916"/>
                </a:solidFill>
              </a:rPr>
              <a:t>Review next</a:t>
            </a:r>
          </a:p>
          <a:p xmlns:a="http://schemas.openxmlformats.org/drawingml/2006/main">
            <a:pPr algn="ctr">
              <a:defRPr sz="1500" b="1">
                <a:solidFill>
                  <a:srgbClr val="191916"/>
                </a:solidFill>
              </a:defRPr>
            </a:pPr>
            <a:r>
              <a:rPr sz="1500" b="1">
                <a:solidFill>
                  <a:srgbClr val="191916"/>
                </a:solidFill>
              </a:rPr>
              <a:t>action</a:t>
            </a:r>
          </a:p>
        </p:txBody>
      </p:sp>
      <p:sp>
        <p:nvSpPr>
          <p:cNvPr id="23" name="step-dot-6">
            <a:extLst xmlns:a="http://schemas.openxmlformats.org/drawingml/2006/main">
              <a:ext uri="{FF2B5EF4-FFF2-40B4-BE49-F238E27FC236}">
                <a16:creationId xmlns:a16="http://schemas.microsoft.com/office/drawing/2014/main" id="{169FDB0D-CD00-407A-8E8A-C02D3684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765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7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tep-number-6">
            <a:extLst xmlns:a="http://schemas.openxmlformats.org/drawingml/2006/main">
              <a:ext uri="{FF2B5EF4-FFF2-40B4-BE49-F238E27FC236}">
                <a16:creationId xmlns:a16="http://schemas.microsoft.com/office/drawing/2014/main" id="{9006AFD7-BA53-4262-B635-669C0141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0099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DF8"/>
                </a:solidFill>
              </a:defRPr>
            </a:pPr>
            <a:r>
              <a:rPr sz="1050" b="1">
                <a:solidFill>
                  <a:srgbClr val="FFFDF8"/>
                </a:solidFill>
              </a:rPr>
              <a:t>07</a:t>
            </a:r>
          </a:p>
        </p:txBody>
      </p:sp>
      <p:sp>
        <p:nvSpPr>
          <p:cNvPr id="25" name="step-label-6">
            <a:extLst xmlns:a="http://schemas.openxmlformats.org/drawingml/2006/main">
              <a:ext uri="{FF2B5EF4-FFF2-40B4-BE49-F238E27FC236}">
                <a16:creationId xmlns:a16="http://schemas.microsoft.com/office/drawing/2014/main" id="{0F2B5AFC-05A4-4F07-888B-2CE4DF9D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619500"/>
            <a:ext cx="1257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1916"/>
                </a:solidFill>
              </a:defRPr>
            </a:pPr>
            <a:r>
              <a:rPr sz="1500" b="1">
                <a:solidFill>
                  <a:srgbClr val="191916"/>
                </a:solidFill>
              </a:rPr>
              <a:t>Approve +</a:t>
            </a:r>
          </a:p>
          <a:p xmlns:a="http://schemas.openxmlformats.org/drawingml/2006/main">
            <a:pPr algn="ctr">
              <a:defRPr sz="1500" b="1">
                <a:solidFill>
                  <a:srgbClr val="191916"/>
                </a:solidFill>
              </a:defRPr>
            </a:pPr>
            <a:r>
              <a:rPr sz="1500" b="1">
                <a:solidFill>
                  <a:srgbClr val="191916"/>
                </a:solidFill>
              </a:rPr>
              <a:t>audit</a:t>
            </a:r>
          </a:p>
        </p:txBody>
      </p:sp>
      <p:sp>
        <p:nvSpPr>
          <p:cNvPr id="26" name="flow-result">
            <a:extLst xmlns:a="http://schemas.openxmlformats.org/drawingml/2006/main">
              <a:ext uri="{FF2B5EF4-FFF2-40B4-BE49-F238E27FC236}">
                <a16:creationId xmlns:a16="http://schemas.microsoft.com/office/drawing/2014/main" id="{EA8308F3-B1F6-4560-AB2C-4CF89F04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1EDE6"/>
          </a:solidFill>
          <a:ln xmlns:a="http://schemas.openxmlformats.org/drawingml/2006/main" w="9525">
            <a:solidFill>
              <a:srgbClr val="D4CDC1"/>
            </a:solidFill>
            <a:prstDash val="solid"/>
          </a:ln>
        </p:spPr>
      </p:sp>
      <p:sp>
        <p:nvSpPr>
          <p:cNvPr id="27" name="flow-result-copy">
            <a:extLst xmlns:a="http://schemas.openxmlformats.org/drawingml/2006/main">
              <a:ext uri="{FF2B5EF4-FFF2-40B4-BE49-F238E27FC236}">
                <a16:creationId xmlns:a16="http://schemas.microsoft.com/office/drawing/2014/main" id="{91A448C0-B23F-43DC-A20A-68E7BD98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1036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54231"/>
                </a:solidFill>
              </a:defRPr>
            </a:pPr>
            <a:r>
              <a:rPr sz="1650" b="1">
                <a:solidFill>
                  <a:srgbClr val="354231"/>
                </a:solidFill>
              </a:rPr>
              <a:t>The demo proves ingestion, storage, AI preparation, employee context, human approval, and traceable audit history in one flow.</a:t>
            </a:r>
          </a:p>
        </p:txBody>
      </p:sp>
      <p:sp>
        <p:nvSpPr>
          <p:cNvPr id="28" name="page-3">
            <a:extLst xmlns:a="http://schemas.openxmlformats.org/drawingml/2006/main">
              <a:ext uri="{FF2B5EF4-FFF2-40B4-BE49-F238E27FC236}">
                <a16:creationId xmlns:a16="http://schemas.microsoft.com/office/drawing/2014/main" id="{AA3BFFE3-F1DB-4C58-8A64-E9881F09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6A61"/>
                </a:solidFill>
              </a:defRPr>
            </a:pPr>
            <a:r>
              <a:rPr sz="900" b="1">
                <a:solidFill>
                  <a:srgbClr val="6F6A61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81707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1ED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7E5232F0-E5C5-4FE0-BBD6-5DEF825E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4231"/>
                </a:solidFill>
              </a:defRPr>
            </a:pPr>
            <a:r>
              <a:rPr sz="975" b="1">
                <a:solidFill>
                  <a:srgbClr val="354231"/>
                </a:solidFill>
              </a:rPr>
              <a:t>ARCHITECTURE</a:t>
            </a:r>
          </a:p>
        </p:txBody>
      </p:sp>
      <p:sp>
        <p:nvSpPr>
          <p:cNvPr id="2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BCB1C90D-33FB-445A-83E6-3B6706BF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91916"/>
                </a:solidFill>
              </a:defRPr>
            </a:pPr>
            <a:r>
              <a:rPr sz="3000" b="1">
                <a:solidFill>
                  <a:srgbClr val="191916"/>
                </a:solidFill>
              </a:rPr>
              <a:t>A simple stack with control at the decision point</a:t>
            </a:r>
          </a:p>
        </p:txBody>
      </p:sp>
      <p:sp>
        <p:nvSpPr>
          <p:cNvPr id="3" name="architecture-subtitle">
            <a:extLst xmlns:a="http://schemas.openxmlformats.org/drawingml/2006/main">
              <a:ext uri="{FF2B5EF4-FFF2-40B4-BE49-F238E27FC236}">
                <a16:creationId xmlns:a16="http://schemas.microsoft.com/office/drawing/2014/main" id="{EFEECD45-A05F-48B1-A27F-F6FAA9F9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6A61"/>
                </a:solidFill>
              </a:defRPr>
            </a:pPr>
            <a:r>
              <a:rPr sz="1575" b="0">
                <a:solidFill>
                  <a:srgbClr val="6F6A61"/>
                </a:solidFill>
              </a:rPr>
              <a:t>Data stays structured; Gemini prepares work; a person remains accountable.</a:t>
            </a:r>
          </a:p>
        </p:txBody>
      </p:sp>
      <p:sp>
        <p:nvSpPr>
          <p:cNvPr id="4" name="connector-1">
            <a:extLst xmlns:a="http://schemas.openxmlformats.org/drawingml/2006/main">
              <a:ext uri="{FF2B5EF4-FFF2-40B4-BE49-F238E27FC236}">
                <a16:creationId xmlns:a16="http://schemas.microsoft.com/office/drawing/2014/main" id="{D0A62C76-52B2-48AD-9046-D0AEB830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143250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nector-2">
            <a:extLst xmlns:a="http://schemas.openxmlformats.org/drawingml/2006/main">
              <a:ext uri="{FF2B5EF4-FFF2-40B4-BE49-F238E27FC236}">
                <a16:creationId xmlns:a16="http://schemas.microsoft.com/office/drawing/2014/main" id="{0540824C-0677-4573-B3A4-3484C6D2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43250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nnector-3">
            <a:extLst xmlns:a="http://schemas.openxmlformats.org/drawingml/2006/main">
              <a:ext uri="{FF2B5EF4-FFF2-40B4-BE49-F238E27FC236}">
                <a16:creationId xmlns:a16="http://schemas.microsoft.com/office/drawing/2014/main" id="{5A2ABAA8-868B-4CA0-8477-B17AE49F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43250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nnector-4">
            <a:extLst xmlns:a="http://schemas.openxmlformats.org/drawingml/2006/main">
              <a:ext uri="{FF2B5EF4-FFF2-40B4-BE49-F238E27FC236}">
                <a16:creationId xmlns:a16="http://schemas.microsoft.com/office/drawing/2014/main" id="{7CB992D8-267E-4D3F-9F99-2C076EAB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43250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ode-0">
            <a:extLst xmlns:a="http://schemas.openxmlformats.org/drawingml/2006/main">
              <a:ext uri="{FF2B5EF4-FFF2-40B4-BE49-F238E27FC236}">
                <a16:creationId xmlns:a16="http://schemas.microsoft.com/office/drawing/2014/main" id="{1BF8BC9B-AB42-43B3-8FD6-EBAE8E8C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724025" cy="146685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4CDC1"/>
            </a:solidFill>
            <a:prstDash val="solid"/>
          </a:ln>
        </p:spPr>
      </p:sp>
      <p:sp>
        <p:nvSpPr>
          <p:cNvPr id="9" name="node-title-0">
            <a:extLst xmlns:a="http://schemas.openxmlformats.org/drawingml/2006/main">
              <a:ext uri="{FF2B5EF4-FFF2-40B4-BE49-F238E27FC236}">
                <a16:creationId xmlns:a16="http://schemas.microsoft.com/office/drawing/2014/main" id="{FB6846D4-6856-4BEB-8E88-1EF464EA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5747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91916"/>
                </a:solidFill>
              </a:defRPr>
            </a:pPr>
            <a:r>
              <a:rPr sz="1575" b="1">
                <a:solidFill>
                  <a:srgbClr val="191916"/>
                </a:solidFill>
              </a:rPr>
              <a:t>Frontend</a:t>
            </a:r>
          </a:p>
        </p:txBody>
      </p:sp>
      <p:sp>
        <p:nvSpPr>
          <p:cNvPr id="10" name="node-body-0">
            <a:extLst xmlns:a="http://schemas.openxmlformats.org/drawingml/2006/main">
              <a:ext uri="{FF2B5EF4-FFF2-40B4-BE49-F238E27FC236}">
                <a16:creationId xmlns:a16="http://schemas.microsoft.com/office/drawing/2014/main" id="{A0BC8077-5677-402A-A4CC-D2406C7D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52775"/>
            <a:ext cx="1419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F6A61"/>
                </a:solidFill>
              </a:defRPr>
            </a:pPr>
            <a:r>
              <a:rPr sz="1200" b="0">
                <a:solidFill>
                  <a:srgbClr val="6F6A61"/>
                </a:solidFill>
              </a:rPr>
              <a:t>Five focused</a:t>
            </a:r>
          </a:p>
          <a:p xmlns:a="http://schemas.openxmlformats.org/drawingml/2006/main">
            <a:pPr algn="ctr">
              <a:defRPr sz="1200" b="0">
                <a:solidFill>
                  <a:srgbClr val="6F6A61"/>
                </a:solidFill>
              </a:defRPr>
            </a:pPr>
            <a:r>
              <a:rPr sz="1200" b="0">
                <a:solidFill>
                  <a:srgbClr val="6F6A61"/>
                </a:solidFill>
              </a:rPr>
              <a:t>workspaces</a:t>
            </a:r>
          </a:p>
        </p:txBody>
      </p:sp>
      <p:sp>
        <p:nvSpPr>
          <p:cNvPr id="11" name="node-1">
            <a:extLst xmlns:a="http://schemas.openxmlformats.org/drawingml/2006/main">
              <a:ext uri="{FF2B5EF4-FFF2-40B4-BE49-F238E27FC236}">
                <a16:creationId xmlns:a16="http://schemas.microsoft.com/office/drawing/2014/main" id="{91D19E62-B78F-4282-979A-AED0596A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28875"/>
            <a:ext cx="1724025" cy="146685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4CDC1"/>
            </a:solidFill>
            <a:prstDash val="solid"/>
          </a:ln>
        </p:spPr>
      </p:sp>
      <p:sp>
        <p:nvSpPr>
          <p:cNvPr id="12" name="node-title-1">
            <a:extLst xmlns:a="http://schemas.openxmlformats.org/drawingml/2006/main">
              <a:ext uri="{FF2B5EF4-FFF2-40B4-BE49-F238E27FC236}">
                <a16:creationId xmlns:a16="http://schemas.microsoft.com/office/drawing/2014/main" id="{324CC4FD-F296-4C8D-B68F-E68D7B3E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5747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91916"/>
                </a:solidFill>
              </a:defRPr>
            </a:pPr>
            <a:r>
              <a:rPr sz="1575" b="1">
                <a:solidFill>
                  <a:srgbClr val="191916"/>
                </a:solidFill>
              </a:rPr>
              <a:t>Node API</a:t>
            </a:r>
          </a:p>
        </p:txBody>
      </p:sp>
      <p:sp>
        <p:nvSpPr>
          <p:cNvPr id="13" name="node-body-1">
            <a:extLst xmlns:a="http://schemas.openxmlformats.org/drawingml/2006/main">
              <a:ext uri="{FF2B5EF4-FFF2-40B4-BE49-F238E27FC236}">
                <a16:creationId xmlns:a16="http://schemas.microsoft.com/office/drawing/2014/main" id="{C523F993-10F7-4F47-8820-D550C214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52775"/>
            <a:ext cx="1419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F6A61"/>
                </a:solidFill>
              </a:defRPr>
            </a:pPr>
            <a:r>
              <a:rPr sz="1200" b="0">
                <a:solidFill>
                  <a:srgbClr val="6F6A61"/>
                </a:solidFill>
              </a:rPr>
              <a:t>Validation +</a:t>
            </a:r>
          </a:p>
          <a:p xmlns:a="http://schemas.openxmlformats.org/drawingml/2006/main">
            <a:pPr algn="ctr">
              <a:defRPr sz="1200" b="0">
                <a:solidFill>
                  <a:srgbClr val="6F6A61"/>
                </a:solidFill>
              </a:defRPr>
            </a:pPr>
            <a:r>
              <a:rPr sz="1200" b="0">
                <a:solidFill>
                  <a:srgbClr val="6F6A61"/>
                </a:solidFill>
              </a:rPr>
              <a:t>role access</a:t>
            </a:r>
          </a:p>
        </p:txBody>
      </p:sp>
      <p:sp>
        <p:nvSpPr>
          <p:cNvPr id="14" name="node-2">
            <a:extLst xmlns:a="http://schemas.openxmlformats.org/drawingml/2006/main">
              <a:ext uri="{FF2B5EF4-FFF2-40B4-BE49-F238E27FC236}">
                <a16:creationId xmlns:a16="http://schemas.microsoft.com/office/drawing/2014/main" id="{6AA711CA-8FBC-4F8D-AA8E-82C3D1BE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28875"/>
            <a:ext cx="1724025" cy="146685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4CDC1"/>
            </a:solidFill>
            <a:prstDash val="solid"/>
          </a:ln>
        </p:spPr>
      </p:sp>
      <p:sp>
        <p:nvSpPr>
          <p:cNvPr id="15" name="node-title-2">
            <a:extLst xmlns:a="http://schemas.openxmlformats.org/drawingml/2006/main">
              <a:ext uri="{FF2B5EF4-FFF2-40B4-BE49-F238E27FC236}">
                <a16:creationId xmlns:a16="http://schemas.microsoft.com/office/drawing/2014/main" id="{73F89170-465C-43F4-B6FF-C03948CE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5747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91916"/>
                </a:solidFill>
              </a:defRPr>
            </a:pPr>
            <a:r>
              <a:rPr sz="1575" b="1">
                <a:solidFill>
                  <a:srgbClr val="191916"/>
                </a:solidFill>
              </a:rPr>
              <a:t>Database</a:t>
            </a:r>
          </a:p>
        </p:txBody>
      </p:sp>
      <p:sp>
        <p:nvSpPr>
          <p:cNvPr id="16" name="node-body-2">
            <a:extLst xmlns:a="http://schemas.openxmlformats.org/drawingml/2006/main">
              <a:ext uri="{FF2B5EF4-FFF2-40B4-BE49-F238E27FC236}">
                <a16:creationId xmlns:a16="http://schemas.microsoft.com/office/drawing/2014/main" id="{9E480F38-33D5-49A3-940C-8D923A8C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52775"/>
            <a:ext cx="1419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F6A61"/>
                </a:solidFill>
              </a:defRPr>
            </a:pPr>
            <a:r>
              <a:rPr sz="1200" b="0">
                <a:solidFill>
                  <a:srgbClr val="6F6A61"/>
                </a:solidFill>
              </a:rPr>
              <a:t>Employee records +</a:t>
            </a:r>
          </a:p>
          <a:p xmlns:a="http://schemas.openxmlformats.org/drawingml/2006/main">
            <a:pPr algn="ctr">
              <a:defRPr sz="1200" b="0">
                <a:solidFill>
                  <a:srgbClr val="6F6A61"/>
                </a:solidFill>
              </a:defRPr>
            </a:pPr>
            <a:r>
              <a:rPr sz="1200" b="0">
                <a:solidFill>
                  <a:srgbClr val="6F6A61"/>
                </a:solidFill>
              </a:rPr>
              <a:t>audit history</a:t>
            </a:r>
          </a:p>
        </p:txBody>
      </p:sp>
      <p:sp>
        <p:nvSpPr>
          <p:cNvPr id="17" name="node-3">
            <a:extLst xmlns:a="http://schemas.openxmlformats.org/drawingml/2006/main">
              <a:ext uri="{FF2B5EF4-FFF2-40B4-BE49-F238E27FC236}">
                <a16:creationId xmlns:a16="http://schemas.microsoft.com/office/drawing/2014/main" id="{A0BC21A9-22CB-4C56-B013-986750B9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28875"/>
            <a:ext cx="1724025" cy="146685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4CDC1"/>
            </a:solidFill>
            <a:prstDash val="solid"/>
          </a:ln>
        </p:spPr>
      </p:sp>
      <p:sp>
        <p:nvSpPr>
          <p:cNvPr id="18" name="node-title-3">
            <a:extLst xmlns:a="http://schemas.openxmlformats.org/drawingml/2006/main">
              <a:ext uri="{FF2B5EF4-FFF2-40B4-BE49-F238E27FC236}">
                <a16:creationId xmlns:a16="http://schemas.microsoft.com/office/drawing/2014/main" id="{769F9C76-A6AF-445A-8941-39AECAA3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5747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91916"/>
                </a:solidFill>
              </a:defRPr>
            </a:pPr>
            <a:r>
              <a:rPr sz="1575" b="1">
                <a:solidFill>
                  <a:srgbClr val="191916"/>
                </a:solidFill>
              </a:rPr>
              <a:t>Gemini</a:t>
            </a:r>
          </a:p>
        </p:txBody>
      </p:sp>
      <p:sp>
        <p:nvSpPr>
          <p:cNvPr id="19" name="node-body-3">
            <a:extLst xmlns:a="http://schemas.openxmlformats.org/drawingml/2006/main">
              <a:ext uri="{FF2B5EF4-FFF2-40B4-BE49-F238E27FC236}">
                <a16:creationId xmlns:a16="http://schemas.microsoft.com/office/drawing/2014/main" id="{A05BBF12-A210-41C0-82D1-3B527CE2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52775"/>
            <a:ext cx="1419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F6A61"/>
                </a:solidFill>
              </a:defRPr>
            </a:pPr>
            <a:r>
              <a:rPr sz="1200" b="0">
                <a:solidFill>
                  <a:srgbClr val="6F6A61"/>
                </a:solidFill>
              </a:rPr>
              <a:t>Drafts +</a:t>
            </a:r>
          </a:p>
          <a:p xmlns:a="http://schemas.openxmlformats.org/drawingml/2006/main">
            <a:pPr algn="ctr">
              <a:defRPr sz="1200" b="0">
                <a:solidFill>
                  <a:srgbClr val="6F6A61"/>
                </a:solidFill>
              </a:defRPr>
            </a:pPr>
            <a:r>
              <a:rPr sz="1200" b="0">
                <a:solidFill>
                  <a:srgbClr val="6F6A61"/>
                </a:solidFill>
              </a:rPr>
              <a:t>summaries</a:t>
            </a:r>
          </a:p>
        </p:txBody>
      </p:sp>
      <p:sp>
        <p:nvSpPr>
          <p:cNvPr id="20" name="node-4">
            <a:extLst xmlns:a="http://schemas.openxmlformats.org/drawingml/2006/main">
              <a:ext uri="{FF2B5EF4-FFF2-40B4-BE49-F238E27FC236}">
                <a16:creationId xmlns:a16="http://schemas.microsoft.com/office/drawing/2014/main" id="{476BD988-C014-4119-8172-73DEF0EF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28875"/>
            <a:ext cx="1724025" cy="146685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191916"/>
          </a:solidFill>
          <a:ln xmlns:a="http://schemas.openxmlformats.org/drawingml/2006/main" w="9525">
            <a:solidFill>
              <a:srgbClr val="191916"/>
            </a:solidFill>
            <a:prstDash val="solid"/>
          </a:ln>
        </p:spPr>
      </p:sp>
      <p:sp>
        <p:nvSpPr>
          <p:cNvPr id="21" name="node-title-4">
            <a:extLst xmlns:a="http://schemas.openxmlformats.org/drawingml/2006/main">
              <a:ext uri="{FF2B5EF4-FFF2-40B4-BE49-F238E27FC236}">
                <a16:creationId xmlns:a16="http://schemas.microsoft.com/office/drawing/2014/main" id="{A813B495-53AD-47AC-BEB4-EF028107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5747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DF8"/>
                </a:solidFill>
              </a:defRPr>
            </a:pPr>
            <a:r>
              <a:rPr sz="1575" b="1">
                <a:solidFill>
                  <a:srgbClr val="FFFDF8"/>
                </a:solidFill>
              </a:rPr>
              <a:t>Human review</a:t>
            </a:r>
          </a:p>
        </p:txBody>
      </p:sp>
      <p:sp>
        <p:nvSpPr>
          <p:cNvPr id="22" name="node-body-4">
            <a:extLst xmlns:a="http://schemas.openxmlformats.org/drawingml/2006/main">
              <a:ext uri="{FF2B5EF4-FFF2-40B4-BE49-F238E27FC236}">
                <a16:creationId xmlns:a16="http://schemas.microsoft.com/office/drawing/2014/main" id="{CA89C4B9-6D8E-4F59-AE85-627A498E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52775"/>
            <a:ext cx="1419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6CBB9"/>
                </a:solidFill>
              </a:defRPr>
            </a:pPr>
            <a:r>
              <a:rPr sz="1200" b="0">
                <a:solidFill>
                  <a:srgbClr val="D6CBB9"/>
                </a:solidFill>
              </a:rPr>
              <a:t>Approve, reject,</a:t>
            </a:r>
          </a:p>
          <a:p xmlns:a="http://schemas.openxmlformats.org/drawingml/2006/main">
            <a:pPr algn="ctr">
              <a:defRPr sz="1200" b="0">
                <a:solidFill>
                  <a:srgbClr val="D6CBB9"/>
                </a:solidFill>
              </a:defRPr>
            </a:pPr>
            <a:r>
              <a:rPr sz="1200" b="0">
                <a:solidFill>
                  <a:srgbClr val="D6CBB9"/>
                </a:solidFill>
              </a:rPr>
              <a:t>or request evidence</a:t>
            </a:r>
          </a:p>
        </p:txBody>
      </p:sp>
      <p:sp>
        <p:nvSpPr>
          <p:cNvPr id="23" name="audit-rail">
            <a:extLst xmlns:a="http://schemas.openxmlformats.org/drawingml/2006/main">
              <a:ext uri="{FF2B5EF4-FFF2-40B4-BE49-F238E27FC236}">
                <a16:creationId xmlns:a16="http://schemas.microsoft.com/office/drawing/2014/main" id="{B3A84F8A-4524-4984-A133-2C4B90E3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1060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audit-node">
            <a:extLst xmlns:a="http://schemas.openxmlformats.org/drawingml/2006/main">
              <a:ext uri="{FF2B5EF4-FFF2-40B4-BE49-F238E27FC236}">
                <a16:creationId xmlns:a16="http://schemas.microsoft.com/office/drawing/2014/main" id="{17691602-E306-4D09-BE9D-364D16B6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5529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7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udit-copy">
            <a:extLst xmlns:a="http://schemas.openxmlformats.org/drawingml/2006/main">
              <a:ext uri="{FF2B5EF4-FFF2-40B4-BE49-F238E27FC236}">
                <a16:creationId xmlns:a16="http://schemas.microsoft.com/office/drawing/2014/main" id="{03ECAE12-4EB6-4503-A319-D8B46376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54231"/>
                </a:solidFill>
              </a:defRPr>
            </a:pPr>
            <a:r>
              <a:rPr sz="1425" b="1">
                <a:solidFill>
                  <a:srgbClr val="354231"/>
                </a:solidFill>
              </a:rPr>
              <a:t>AUDIT TRAIL  /  every import, review, recommendation, and approval is recorded</a:t>
            </a:r>
          </a:p>
        </p:txBody>
      </p:sp>
      <p:sp>
        <p:nvSpPr>
          <p:cNvPr id="26" name="architecture-foot">
            <a:extLst xmlns:a="http://schemas.openxmlformats.org/drawingml/2006/main">
              <a:ext uri="{FF2B5EF4-FFF2-40B4-BE49-F238E27FC236}">
                <a16:creationId xmlns:a16="http://schemas.microsoft.com/office/drawing/2014/main" id="{A4C8B075-A690-424C-943C-BB9420E8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A61"/>
                </a:solidFill>
              </a:defRPr>
            </a:pPr>
            <a:r>
              <a:rPr sz="1275" b="0">
                <a:solidFill>
                  <a:srgbClr val="6F6A61"/>
                </a:solidFill>
              </a:rPr>
              <a:t>Frontend  -&gt;  Node API  -&gt;  database  -&gt;  Gemini  -&gt;  human review</a:t>
            </a:r>
          </a:p>
        </p:txBody>
      </p:sp>
      <p:sp>
        <p:nvSpPr>
          <p:cNvPr id="27" name="page-4">
            <a:extLst xmlns:a="http://schemas.openxmlformats.org/drawingml/2006/main">
              <a:ext uri="{FF2B5EF4-FFF2-40B4-BE49-F238E27FC236}">
                <a16:creationId xmlns:a16="http://schemas.microsoft.com/office/drawing/2014/main" id="{000146A3-6B54-40C8-A6FD-A2992D12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6A61"/>
                </a:solidFill>
              </a:defRPr>
            </a:pPr>
            <a:r>
              <a:rPr sz="900" b="1">
                <a:solidFill>
                  <a:srgbClr val="6F6A61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922735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D174E388-7138-453C-85BB-EAFAC1AF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4231"/>
                </a:solidFill>
              </a:defRPr>
            </a:pPr>
            <a:r>
              <a:rPr sz="975" b="1">
                <a:solidFill>
                  <a:srgbClr val="354231"/>
                </a:solidFill>
              </a:rPr>
              <a:t>SAFETY</a:t>
            </a:r>
          </a:p>
        </p:txBody>
      </p:sp>
      <p:sp>
        <p:nvSpPr>
          <p:cNvPr id="2" name="safety-title">
            <a:extLst xmlns:a="http://schemas.openxmlformats.org/drawingml/2006/main">
              <a:ext uri="{FF2B5EF4-FFF2-40B4-BE49-F238E27FC236}">
                <a16:creationId xmlns:a16="http://schemas.microsoft.com/office/drawing/2014/main" id="{724CB28C-650A-42FE-B2E2-0CF02230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581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91916"/>
                </a:solidFill>
              </a:defRPr>
            </a:pPr>
            <a:r>
              <a:rPr sz="3750" b="1">
                <a:solidFill>
                  <a:srgbClr val="191916"/>
                </a:solidFill>
              </a:rPr>
              <a:t>AI drafts. HR decides.</a:t>
            </a:r>
          </a:p>
        </p:txBody>
      </p:sp>
      <p:sp>
        <p:nvSpPr>
          <p:cNvPr id="3" name="safety-copy">
            <a:extLst xmlns:a="http://schemas.openxmlformats.org/drawingml/2006/main">
              <a:ext uri="{FF2B5EF4-FFF2-40B4-BE49-F238E27FC236}">
                <a16:creationId xmlns:a16="http://schemas.microsoft.com/office/drawing/2014/main" id="{C30030E4-ABC7-48FF-AFFA-77EA2C0E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F6A61"/>
                </a:solidFill>
              </a:defRPr>
            </a:pPr>
            <a:r>
              <a:rPr sz="1800" b="0">
                <a:solidFill>
                  <a:srgbClr val="6F6A61"/>
                </a:solidFill>
              </a:rPr>
              <a:t>Promotion, compensation, demotion, discipline, and termination never execute automatically. The system prepares evidence and a recommendation for an accountable reviewer.</a:t>
            </a:r>
          </a:p>
        </p:txBody>
      </p:sp>
      <p:sp>
        <p:nvSpPr>
          <p:cNvPr id="4" name="human-control">
            <a:extLst xmlns:a="http://schemas.openxmlformats.org/drawingml/2006/main">
              <a:ext uri="{FF2B5EF4-FFF2-40B4-BE49-F238E27FC236}">
                <a16:creationId xmlns:a16="http://schemas.microsoft.com/office/drawing/2014/main" id="{B0017755-FB83-4974-9F6D-8EEF3599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90950"/>
            <a:ext cx="4667250" cy="10858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91916"/>
          </a:solidFill>
          <a:ln xmlns:a="http://schemas.openxmlformats.org/drawingml/2006/main" w="9525">
            <a:solidFill>
              <a:srgbClr val="191916"/>
            </a:solidFill>
            <a:prstDash val="solid"/>
          </a:ln>
        </p:spPr>
      </p:sp>
      <p:sp>
        <p:nvSpPr>
          <p:cNvPr id="5" name="human-control-title">
            <a:extLst xmlns:a="http://schemas.openxmlformats.org/drawingml/2006/main">
              <a:ext uri="{FF2B5EF4-FFF2-40B4-BE49-F238E27FC236}">
                <a16:creationId xmlns:a16="http://schemas.microsoft.com/office/drawing/2014/main" id="{E92A73D3-6267-498B-871F-402B54DD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DF8"/>
                </a:solidFill>
              </a:defRPr>
            </a:pPr>
            <a:r>
              <a:rPr sz="1725" b="1">
                <a:solidFill>
                  <a:srgbClr val="FFFDF8"/>
                </a:solidFill>
              </a:rPr>
              <a:t>HUMAN APPROVAL REQUIRED</a:t>
            </a:r>
          </a:p>
        </p:txBody>
      </p:sp>
      <p:sp>
        <p:nvSpPr>
          <p:cNvPr id="6" name="human-control-copy">
            <a:extLst xmlns:a="http://schemas.openxmlformats.org/drawingml/2006/main">
              <a:ext uri="{FF2B5EF4-FFF2-40B4-BE49-F238E27FC236}">
                <a16:creationId xmlns:a16="http://schemas.microsoft.com/office/drawing/2014/main" id="{5A0493F4-3C31-4255-8D8D-97074487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417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BF91"/>
                </a:solidFill>
              </a:defRPr>
            </a:pPr>
            <a:r>
              <a:rPr sz="1275" b="0">
                <a:solidFill>
                  <a:srgbClr val="D9BF91"/>
                </a:solidFill>
              </a:rPr>
              <a:t>Approve  /  Reject  /  Request more evidence</a:t>
            </a:r>
          </a:p>
        </p:txBody>
      </p:sp>
      <p:sp>
        <p:nvSpPr>
          <p:cNvPr id="7" name="safety-divider">
            <a:extLst xmlns:a="http://schemas.openxmlformats.org/drawingml/2006/main">
              <a:ext uri="{FF2B5EF4-FFF2-40B4-BE49-F238E27FC236}">
                <a16:creationId xmlns:a16="http://schemas.microsoft.com/office/drawing/2014/main" id="{E305477A-1777-467F-A593-910C4101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085850"/>
            <a:ext cx="19050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D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ntrol-number-0">
            <a:extLst xmlns:a="http://schemas.openxmlformats.org/drawingml/2006/main">
              <a:ext uri="{FF2B5EF4-FFF2-40B4-BE49-F238E27FC236}">
                <a16:creationId xmlns:a16="http://schemas.microsoft.com/office/drawing/2014/main" id="{B0D40429-13D6-4990-B942-687D86D5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200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8A48"/>
                </a:solidFill>
              </a:defRPr>
            </a:pPr>
            <a:r>
              <a:rPr sz="1350" b="1">
                <a:solidFill>
                  <a:srgbClr val="B38A48"/>
                </a:solidFill>
              </a:rPr>
              <a:t>01</a:t>
            </a:r>
          </a:p>
        </p:txBody>
      </p:sp>
      <p:sp>
        <p:nvSpPr>
          <p:cNvPr id="9" name="control-title-0">
            <a:extLst xmlns:a="http://schemas.openxmlformats.org/drawingml/2006/main">
              <a:ext uri="{FF2B5EF4-FFF2-40B4-BE49-F238E27FC236}">
                <a16:creationId xmlns:a16="http://schemas.microsoft.com/office/drawing/2014/main" id="{169F5AF3-54A8-41E2-80D4-B9EF34C8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8110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1916"/>
                </a:solidFill>
              </a:defRPr>
            </a:pPr>
            <a:r>
              <a:rPr sz="1650" b="1">
                <a:solidFill>
                  <a:srgbClr val="191916"/>
                </a:solidFill>
              </a:rPr>
              <a:t>Evidence beside the recommendation</a:t>
            </a:r>
          </a:p>
        </p:txBody>
      </p:sp>
      <p:sp>
        <p:nvSpPr>
          <p:cNvPr id="10" name="control-body-0">
            <a:extLst xmlns:a="http://schemas.openxmlformats.org/drawingml/2006/main">
              <a:ext uri="{FF2B5EF4-FFF2-40B4-BE49-F238E27FC236}">
                <a16:creationId xmlns:a16="http://schemas.microsoft.com/office/drawing/2014/main" id="{283EB372-771C-4612-83F2-E38D9A9B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562100"/>
            <a:ext cx="411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A61"/>
                </a:solidFill>
              </a:defRPr>
            </a:pPr>
            <a:r>
              <a:rPr sz="1275" b="0">
                <a:solidFill>
                  <a:srgbClr val="6F6A61"/>
                </a:solidFill>
              </a:rPr>
              <a:t>Facts, wins, concerns, support, and warnings stay visible.</a:t>
            </a:r>
          </a:p>
        </p:txBody>
      </p:sp>
      <p:sp>
        <p:nvSpPr>
          <p:cNvPr id="11" name="control-number-1">
            <a:extLst xmlns:a="http://schemas.openxmlformats.org/drawingml/2006/main">
              <a:ext uri="{FF2B5EF4-FFF2-40B4-BE49-F238E27FC236}">
                <a16:creationId xmlns:a16="http://schemas.microsoft.com/office/drawing/2014/main" id="{FAF1A43D-562A-451D-BA56-86AFF57C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003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34845"/>
                </a:solidFill>
              </a:defRPr>
            </a:pPr>
            <a:r>
              <a:rPr sz="1350" b="1">
                <a:solidFill>
                  <a:srgbClr val="A34845"/>
                </a:solidFill>
              </a:rPr>
              <a:t>02</a:t>
            </a:r>
          </a:p>
        </p:txBody>
      </p:sp>
      <p:sp>
        <p:nvSpPr>
          <p:cNvPr id="12" name="control-title-1">
            <a:extLst xmlns:a="http://schemas.openxmlformats.org/drawingml/2006/main">
              <a:ext uri="{FF2B5EF4-FFF2-40B4-BE49-F238E27FC236}">
                <a16:creationId xmlns:a16="http://schemas.microsoft.com/office/drawing/2014/main" id="{A449ECAB-7A65-47AB-B6A0-C64D0FFD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8125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1916"/>
                </a:solidFill>
              </a:defRPr>
            </a:pPr>
            <a:r>
              <a:rPr sz="1650" b="1">
                <a:solidFill>
                  <a:srgbClr val="191916"/>
                </a:solidFill>
              </a:rPr>
              <a:t>Complaints remain allegations</a:t>
            </a:r>
          </a:p>
        </p:txBody>
      </p:sp>
      <p:sp>
        <p:nvSpPr>
          <p:cNvPr id="13" name="control-body-1">
            <a:extLst xmlns:a="http://schemas.openxmlformats.org/drawingml/2006/main">
              <a:ext uri="{FF2B5EF4-FFF2-40B4-BE49-F238E27FC236}">
                <a16:creationId xmlns:a16="http://schemas.microsoft.com/office/drawing/2014/main" id="{CEF51472-0705-40A6-BBCF-5EB79C86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62250"/>
            <a:ext cx="411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A61"/>
                </a:solidFill>
              </a:defRPr>
            </a:pPr>
            <a:r>
              <a:rPr sz="1275" b="0">
                <a:solidFill>
                  <a:srgbClr val="6F6A61"/>
                </a:solidFill>
              </a:rPr>
              <a:t>Counts provide context; they are not behavior scores or guilt.</a:t>
            </a:r>
          </a:p>
        </p:txBody>
      </p:sp>
      <p:sp>
        <p:nvSpPr>
          <p:cNvPr id="14" name="control-number-2">
            <a:extLst xmlns:a="http://schemas.openxmlformats.org/drawingml/2006/main">
              <a:ext uri="{FF2B5EF4-FFF2-40B4-BE49-F238E27FC236}">
                <a16:creationId xmlns:a16="http://schemas.microsoft.com/office/drawing/2014/main" id="{2AD11295-BDCB-49A9-AC20-3BF636DA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004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8A48"/>
                </a:solidFill>
              </a:defRPr>
            </a:pPr>
            <a:r>
              <a:rPr sz="1350" b="1">
                <a:solidFill>
                  <a:srgbClr val="B38A48"/>
                </a:solidFill>
              </a:rPr>
              <a:t>03</a:t>
            </a:r>
          </a:p>
        </p:txBody>
      </p:sp>
      <p:sp>
        <p:nvSpPr>
          <p:cNvPr id="15" name="control-title-2">
            <a:extLst xmlns:a="http://schemas.openxmlformats.org/drawingml/2006/main">
              <a:ext uri="{FF2B5EF4-FFF2-40B4-BE49-F238E27FC236}">
                <a16:creationId xmlns:a16="http://schemas.microsoft.com/office/drawing/2014/main" id="{C33FA4D3-AC2F-49EF-A43F-8710B4F3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8140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1916"/>
                </a:solidFill>
              </a:defRPr>
            </a:pPr>
            <a:r>
              <a:rPr sz="1650" b="1">
                <a:solidFill>
                  <a:srgbClr val="191916"/>
                </a:solidFill>
              </a:rPr>
              <a:t>Sensitive actions need confirmation</a:t>
            </a:r>
          </a:p>
        </p:txBody>
      </p:sp>
      <p:sp>
        <p:nvSpPr>
          <p:cNvPr id="16" name="control-body-2">
            <a:extLst xmlns:a="http://schemas.openxmlformats.org/drawingml/2006/main">
              <a:ext uri="{FF2B5EF4-FFF2-40B4-BE49-F238E27FC236}">
                <a16:creationId xmlns:a16="http://schemas.microsoft.com/office/drawing/2014/main" id="{B53BEF6B-242F-4550-9B4D-75B54D5A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62400"/>
            <a:ext cx="411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A61"/>
                </a:solidFill>
              </a:defRPr>
            </a:pPr>
            <a:r>
              <a:rPr sz="1275" b="0">
                <a:solidFill>
                  <a:srgbClr val="6F6A61"/>
                </a:solidFill>
              </a:rPr>
              <a:t>The UI explains that a brief does not apply an employment change.</a:t>
            </a:r>
          </a:p>
        </p:txBody>
      </p:sp>
      <p:sp>
        <p:nvSpPr>
          <p:cNvPr id="17" name="control-number-3">
            <a:extLst xmlns:a="http://schemas.openxmlformats.org/drawingml/2006/main">
              <a:ext uri="{FF2B5EF4-FFF2-40B4-BE49-F238E27FC236}">
                <a16:creationId xmlns:a16="http://schemas.microsoft.com/office/drawing/2014/main" id="{21DF2F8F-8DEA-41B5-BF85-115227D4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006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8A48"/>
                </a:solidFill>
              </a:defRPr>
            </a:pPr>
            <a:r>
              <a:rPr sz="1350" b="1">
                <a:solidFill>
                  <a:srgbClr val="B38A48"/>
                </a:solidFill>
              </a:rPr>
              <a:t>04</a:t>
            </a:r>
          </a:p>
        </p:txBody>
      </p:sp>
      <p:sp>
        <p:nvSpPr>
          <p:cNvPr id="18" name="control-title-3">
            <a:extLst xmlns:a="http://schemas.openxmlformats.org/drawingml/2006/main">
              <a:ext uri="{FF2B5EF4-FFF2-40B4-BE49-F238E27FC236}">
                <a16:creationId xmlns:a16="http://schemas.microsoft.com/office/drawing/2014/main" id="{72FAB8B1-87C6-4017-90B4-87BAB461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8155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1916"/>
                </a:solidFill>
              </a:defRPr>
            </a:pPr>
            <a:r>
              <a:rPr sz="1650" b="1">
                <a:solidFill>
                  <a:srgbClr val="191916"/>
                </a:solidFill>
              </a:rPr>
              <a:t>Every decision leaves a record</a:t>
            </a:r>
          </a:p>
        </p:txBody>
      </p:sp>
      <p:sp>
        <p:nvSpPr>
          <p:cNvPr id="19" name="control-body-3">
            <a:extLst xmlns:a="http://schemas.openxmlformats.org/drawingml/2006/main">
              <a:ext uri="{FF2B5EF4-FFF2-40B4-BE49-F238E27FC236}">
                <a16:creationId xmlns:a16="http://schemas.microsoft.com/office/drawing/2014/main" id="{E5FFBBF1-FEFC-4F2E-A64E-84006CFF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62550"/>
            <a:ext cx="411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A61"/>
                </a:solidFill>
              </a:defRPr>
            </a:pPr>
            <a:r>
              <a:rPr sz="1275" b="0">
                <a:solidFill>
                  <a:srgbClr val="6F6A61"/>
                </a:solidFill>
              </a:rPr>
              <a:t>Review outcomes and responsible actors are written to the audit trail.</a:t>
            </a:r>
          </a:p>
        </p:txBody>
      </p:sp>
      <p:sp>
        <p:nvSpPr>
          <p:cNvPr id="20" name="page-5">
            <a:extLst xmlns:a="http://schemas.openxmlformats.org/drawingml/2006/main">
              <a:ext uri="{FF2B5EF4-FFF2-40B4-BE49-F238E27FC236}">
                <a16:creationId xmlns:a16="http://schemas.microsoft.com/office/drawing/2014/main" id="{67919CAE-ABF1-4315-AB7E-7D2C1CE4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6A61"/>
                </a:solidFill>
              </a:defRPr>
            </a:pPr>
            <a:r>
              <a:rPr sz="900" b="1">
                <a:solidFill>
                  <a:srgbClr val="6F6A61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337781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919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94309BFD-3A37-496F-A648-6496E313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CBB9"/>
                </a:solidFill>
              </a:defRPr>
            </a:pPr>
            <a:r>
              <a:rPr sz="975" b="1">
                <a:solidFill>
                  <a:srgbClr val="D6CBB9"/>
                </a:solidFill>
              </a:rPr>
              <a:t>FUTURE</a:t>
            </a:r>
          </a:p>
        </p:txBody>
      </p:sp>
      <p:sp>
        <p:nvSpPr>
          <p:cNvPr id="2" name="future-title">
            <a:extLst xmlns:a="http://schemas.openxmlformats.org/drawingml/2006/main">
              <a:ext uri="{FF2B5EF4-FFF2-40B4-BE49-F238E27FC236}">
                <a16:creationId xmlns:a16="http://schemas.microsoft.com/office/drawing/2014/main" id="{75909AD1-52D7-4458-AF1C-4EDC222C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71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DF8"/>
                </a:solidFill>
              </a:defRPr>
            </a:pPr>
            <a:r>
              <a:rPr sz="3600" b="1">
                <a:solidFill>
                  <a:srgbClr val="FFFDF8"/>
                </a:solidFill>
              </a:rPr>
              <a:t>Start focused. Grow into the HR stack.</a:t>
            </a:r>
          </a:p>
        </p:txBody>
      </p:sp>
      <p:sp>
        <p:nvSpPr>
          <p:cNvPr id="3" name="future-copy">
            <a:extLst xmlns:a="http://schemas.openxmlformats.org/drawingml/2006/main">
              <a:ext uri="{FF2B5EF4-FFF2-40B4-BE49-F238E27FC236}">
                <a16:creationId xmlns:a16="http://schemas.microsoft.com/office/drawing/2014/main" id="{E019F574-CBA4-4A8F-851A-F3D189FB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6CBB9"/>
                </a:solidFill>
              </a:defRPr>
            </a:pPr>
            <a:r>
              <a:rPr sz="1575" b="0">
                <a:solidFill>
                  <a:srgbClr val="D6CBB9"/>
                </a:solidFill>
              </a:rPr>
              <a:t>The hackathon version proves the core workflow. The market version adds enterprise connection and scale.</a:t>
            </a:r>
          </a:p>
        </p:txBody>
      </p:sp>
      <p:sp>
        <p:nvSpPr>
          <p:cNvPr id="4" name="future-rule-0">
            <a:extLst xmlns:a="http://schemas.openxmlformats.org/drawingml/2006/main">
              <a:ext uri="{FF2B5EF4-FFF2-40B4-BE49-F238E27FC236}">
                <a16:creationId xmlns:a16="http://schemas.microsoft.com/office/drawing/2014/main" id="{2965867E-5425-40E1-B72C-9F641AF9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A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uture-number-0">
            <a:extLst xmlns:a="http://schemas.openxmlformats.org/drawingml/2006/main">
              <a:ext uri="{FF2B5EF4-FFF2-40B4-BE49-F238E27FC236}">
                <a16:creationId xmlns:a16="http://schemas.microsoft.com/office/drawing/2014/main" id="{84B29997-2C4B-4C55-9782-B668D123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8A48"/>
                </a:solidFill>
              </a:defRPr>
            </a:pPr>
            <a:r>
              <a:rPr sz="1350" b="1">
                <a:solidFill>
                  <a:srgbClr val="B38A48"/>
                </a:solidFill>
              </a:rPr>
              <a:t>01</a:t>
            </a:r>
          </a:p>
        </p:txBody>
      </p:sp>
      <p:sp>
        <p:nvSpPr>
          <p:cNvPr id="6" name="future-heading-0">
            <a:extLst xmlns:a="http://schemas.openxmlformats.org/drawingml/2006/main">
              <a:ext uri="{FF2B5EF4-FFF2-40B4-BE49-F238E27FC236}">
                <a16:creationId xmlns:a16="http://schemas.microsoft.com/office/drawing/2014/main" id="{9995382D-1706-4C66-8F41-2ACD30B2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86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DF8"/>
                </a:solidFill>
              </a:defRPr>
            </a:pPr>
            <a:r>
              <a:rPr sz="1875" b="1">
                <a:solidFill>
                  <a:srgbClr val="FFFDF8"/>
                </a:solidFill>
              </a:rPr>
              <a:t>HRIS integrations</a:t>
            </a:r>
          </a:p>
        </p:txBody>
      </p:sp>
      <p:sp>
        <p:nvSpPr>
          <p:cNvPr id="7" name="future-body-0">
            <a:extLst xmlns:a="http://schemas.openxmlformats.org/drawingml/2006/main">
              <a:ext uri="{FF2B5EF4-FFF2-40B4-BE49-F238E27FC236}">
                <a16:creationId xmlns:a16="http://schemas.microsoft.com/office/drawing/2014/main" id="{90EB4576-F28E-4E28-9861-4D2DC650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05150"/>
            <a:ext cx="398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B8AC"/>
                </a:solidFill>
              </a:defRPr>
            </a:pPr>
            <a:r>
              <a:rPr sz="1275" b="0">
                <a:solidFill>
                  <a:srgbClr val="BFB8AC"/>
                </a:solidFill>
              </a:rPr>
              <a:t>Sync employee records and approved actions.</a:t>
            </a:r>
          </a:p>
        </p:txBody>
      </p:sp>
      <p:sp>
        <p:nvSpPr>
          <p:cNvPr id="8" name="future-rule-1">
            <a:extLst xmlns:a="http://schemas.openxmlformats.org/drawingml/2006/main">
              <a:ext uri="{FF2B5EF4-FFF2-40B4-BE49-F238E27FC236}">
                <a16:creationId xmlns:a16="http://schemas.microsoft.com/office/drawing/2014/main" id="{04638300-767D-49BE-800F-807E8BD4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3365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A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uture-number-1">
            <a:extLst xmlns:a="http://schemas.openxmlformats.org/drawingml/2006/main">
              <a:ext uri="{FF2B5EF4-FFF2-40B4-BE49-F238E27FC236}">
                <a16:creationId xmlns:a16="http://schemas.microsoft.com/office/drawing/2014/main" id="{D9023851-EB14-41D6-8BBE-17BBE694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8A48"/>
                </a:solidFill>
              </a:defRPr>
            </a:pPr>
            <a:r>
              <a:rPr sz="1350" b="1">
                <a:solidFill>
                  <a:srgbClr val="B38A48"/>
                </a:solidFill>
              </a:rPr>
              <a:t>02</a:t>
            </a:r>
          </a:p>
        </p:txBody>
      </p:sp>
      <p:sp>
        <p:nvSpPr>
          <p:cNvPr id="10" name="future-heading-1">
            <a:extLst xmlns:a="http://schemas.openxmlformats.org/drawingml/2006/main">
              <a:ext uri="{FF2B5EF4-FFF2-40B4-BE49-F238E27FC236}">
                <a16:creationId xmlns:a16="http://schemas.microsoft.com/office/drawing/2014/main" id="{430438BD-E7AE-4E43-A06C-A57891E4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86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DF8"/>
                </a:solidFill>
              </a:defRPr>
            </a:pPr>
            <a:r>
              <a:rPr sz="1875" b="1">
                <a:solidFill>
                  <a:srgbClr val="FFFDF8"/>
                </a:solidFill>
              </a:rPr>
              <a:t>SSO</a:t>
            </a:r>
          </a:p>
        </p:txBody>
      </p:sp>
      <p:sp>
        <p:nvSpPr>
          <p:cNvPr id="11" name="future-body-1">
            <a:extLst xmlns:a="http://schemas.openxmlformats.org/drawingml/2006/main">
              <a:ext uri="{FF2B5EF4-FFF2-40B4-BE49-F238E27FC236}">
                <a16:creationId xmlns:a16="http://schemas.microsoft.com/office/drawing/2014/main" id="{DF3A58C2-0097-4B26-B9C4-5AA6C898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05150"/>
            <a:ext cx="398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B8AC"/>
                </a:solidFill>
              </a:defRPr>
            </a:pPr>
            <a:r>
              <a:rPr sz="1275" b="0">
                <a:solidFill>
                  <a:srgbClr val="BFB8AC"/>
                </a:solidFill>
              </a:rPr>
              <a:t>Enterprise identity, access, and recovery.</a:t>
            </a:r>
          </a:p>
        </p:txBody>
      </p:sp>
      <p:sp>
        <p:nvSpPr>
          <p:cNvPr id="12" name="future-rule-2">
            <a:extLst xmlns:a="http://schemas.openxmlformats.org/drawingml/2006/main">
              <a:ext uri="{FF2B5EF4-FFF2-40B4-BE49-F238E27FC236}">
                <a16:creationId xmlns:a16="http://schemas.microsoft.com/office/drawing/2014/main" id="{6BF502BB-1C60-4C86-9A7C-9445B6FE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A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uture-number-2">
            <a:extLst xmlns:a="http://schemas.openxmlformats.org/drawingml/2006/main">
              <a:ext uri="{FF2B5EF4-FFF2-40B4-BE49-F238E27FC236}">
                <a16:creationId xmlns:a16="http://schemas.microsoft.com/office/drawing/2014/main" id="{857DE8CE-3DAD-4A4A-9072-C498D047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8A48"/>
                </a:solidFill>
              </a:defRPr>
            </a:pPr>
            <a:r>
              <a:rPr sz="1350" b="1">
                <a:solidFill>
                  <a:srgbClr val="B38A48"/>
                </a:solidFill>
              </a:rPr>
              <a:t>03</a:t>
            </a:r>
          </a:p>
        </p:txBody>
      </p:sp>
      <p:sp>
        <p:nvSpPr>
          <p:cNvPr id="14" name="future-heading-2">
            <a:extLst xmlns:a="http://schemas.openxmlformats.org/drawingml/2006/main">
              <a:ext uri="{FF2B5EF4-FFF2-40B4-BE49-F238E27FC236}">
                <a16:creationId xmlns:a16="http://schemas.microsoft.com/office/drawing/2014/main" id="{DFDD1435-E9D0-41D4-8D3B-BA6D83A7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338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DF8"/>
                </a:solidFill>
              </a:defRPr>
            </a:pPr>
            <a:r>
              <a:rPr sz="1875" b="1">
                <a:solidFill>
                  <a:srgbClr val="FFFDF8"/>
                </a:solidFill>
              </a:rPr>
              <a:t>PostgreSQL</a:t>
            </a:r>
          </a:p>
        </p:txBody>
      </p:sp>
      <p:sp>
        <p:nvSpPr>
          <p:cNvPr id="15" name="future-body-2">
            <a:extLst xmlns:a="http://schemas.openxmlformats.org/drawingml/2006/main">
              <a:ext uri="{FF2B5EF4-FFF2-40B4-BE49-F238E27FC236}">
                <a16:creationId xmlns:a16="http://schemas.microsoft.com/office/drawing/2014/main" id="{0B46A16A-61EC-4823-8271-91B3FF74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52950"/>
            <a:ext cx="398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B8AC"/>
                </a:solidFill>
              </a:defRPr>
            </a:pPr>
            <a:r>
              <a:rPr sz="1275" b="0">
                <a:solidFill>
                  <a:srgbClr val="BFB8AC"/>
                </a:solidFill>
              </a:rPr>
              <a:t>Managed persistence, backup, and recovery.</a:t>
            </a:r>
          </a:p>
        </p:txBody>
      </p:sp>
      <p:sp>
        <p:nvSpPr>
          <p:cNvPr id="16" name="future-rule-3">
            <a:extLst xmlns:a="http://schemas.openxmlformats.org/drawingml/2006/main">
              <a:ext uri="{FF2B5EF4-FFF2-40B4-BE49-F238E27FC236}">
                <a16:creationId xmlns:a16="http://schemas.microsoft.com/office/drawing/2014/main" id="{7D42C2F1-724C-4B6C-A3B7-AB519FC8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uture-number-3">
            <a:extLst xmlns:a="http://schemas.openxmlformats.org/drawingml/2006/main">
              <a:ext uri="{FF2B5EF4-FFF2-40B4-BE49-F238E27FC236}">
                <a16:creationId xmlns:a16="http://schemas.microsoft.com/office/drawing/2014/main" id="{360E571D-981B-4C4F-B624-D54FF0A0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8A48"/>
                </a:solidFill>
              </a:defRPr>
            </a:pPr>
            <a:r>
              <a:rPr sz="1350" b="1">
                <a:solidFill>
                  <a:srgbClr val="B38A48"/>
                </a:solidFill>
              </a:rPr>
              <a:t>04</a:t>
            </a:r>
          </a:p>
        </p:txBody>
      </p:sp>
      <p:sp>
        <p:nvSpPr>
          <p:cNvPr id="18" name="future-heading-3">
            <a:extLst xmlns:a="http://schemas.openxmlformats.org/drawingml/2006/main">
              <a:ext uri="{FF2B5EF4-FFF2-40B4-BE49-F238E27FC236}">
                <a16:creationId xmlns:a16="http://schemas.microsoft.com/office/drawing/2014/main" id="{E08F6459-46B8-4D25-9CAA-A101D51B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338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DF8"/>
                </a:solidFill>
              </a:defRPr>
            </a:pPr>
            <a:r>
              <a:rPr sz="1875" b="1">
                <a:solidFill>
                  <a:srgbClr val="FFFDF8"/>
                </a:solidFill>
              </a:rPr>
              <a:t>Multi-company support</a:t>
            </a:r>
          </a:p>
        </p:txBody>
      </p:sp>
      <p:sp>
        <p:nvSpPr>
          <p:cNvPr id="19" name="future-body-3">
            <a:extLst xmlns:a="http://schemas.openxmlformats.org/drawingml/2006/main">
              <a:ext uri="{FF2B5EF4-FFF2-40B4-BE49-F238E27FC236}">
                <a16:creationId xmlns:a16="http://schemas.microsoft.com/office/drawing/2014/main" id="{4073745B-21B1-478B-9693-AF2D9560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52950"/>
            <a:ext cx="398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B8AC"/>
                </a:solidFill>
              </a:defRPr>
            </a:pPr>
            <a:r>
              <a:rPr sz="1275" b="0">
                <a:solidFill>
                  <a:srgbClr val="BFB8AC"/>
                </a:solidFill>
              </a:rPr>
              <a:t>Tenant isolation and organization-level controls.</a:t>
            </a:r>
          </a:p>
        </p:txBody>
      </p:sp>
      <p:sp>
        <p:nvSpPr>
          <p:cNvPr id="20" name="closing-rail">
            <a:extLst xmlns:a="http://schemas.openxmlformats.org/drawingml/2006/main">
              <a:ext uri="{FF2B5EF4-FFF2-40B4-BE49-F238E27FC236}">
                <a16:creationId xmlns:a16="http://schemas.microsoft.com/office/drawing/2014/main" id="{88315DA4-D7A1-4E2C-BCE9-38AA2592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67400"/>
            <a:ext cx="10325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losing-copy">
            <a:extLst xmlns:a="http://schemas.openxmlformats.org/drawingml/2006/main">
              <a:ext uri="{FF2B5EF4-FFF2-40B4-BE49-F238E27FC236}">
                <a16:creationId xmlns:a16="http://schemas.microsoft.com/office/drawing/2014/main" id="{39CC2E47-1C77-4D54-A4F0-D5787C74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769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DF8"/>
                </a:solidFill>
              </a:defRPr>
            </a:pPr>
            <a:r>
              <a:rPr sz="1500" b="1">
                <a:solidFill>
                  <a:srgbClr val="FFFDF8"/>
                </a:solidFill>
              </a:rPr>
              <a:t>Today: hackathon-ready copilot.  Next: deployable people-operations platform.</a:t>
            </a:r>
          </a:p>
        </p:txBody>
      </p:sp>
      <p:sp>
        <p:nvSpPr>
          <p:cNvPr id="22" name="page-6">
            <a:extLst xmlns:a="http://schemas.openxmlformats.org/drawingml/2006/main">
              <a:ext uri="{FF2B5EF4-FFF2-40B4-BE49-F238E27FC236}">
                <a16:creationId xmlns:a16="http://schemas.microsoft.com/office/drawing/2014/main" id="{52F531FC-0691-4F87-9579-9E9C1FEB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4ADA2"/>
                </a:solidFill>
              </a:defRPr>
            </a:pPr>
            <a:r>
              <a:rPr sz="900" b="1">
                <a:solidFill>
                  <a:srgbClr val="B4ADA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494804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2026-08-29T15:33:05.3710000Z</dcterms:created>
  <dcterms:modified xsi:type="dcterms:W3CDTF">2026-08-29T15:33:05.3710000Z</dcterms:modified>
</coreProperties>
</file>